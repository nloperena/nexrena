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9B7D4E">
              <a:alpha val="8000"/>
            </a:srgbClr>
          </a:solidFill>
          <a:ln w="12700">
            <a:solidFill>
              <a:srgbClr val="9B7D4E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56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AGENCY CAPABILITIES  ·  NEXRENA.COM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82296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</a:t>
            </a:r>
            <a:pPr indent="0" marL="0">
              <a:buNone/>
            </a:pPr>
            <a:r>
              <a:rPr lang="en-US" sz="96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320040" y="2331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400" kern="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DIGITAL GROWTH AGENCY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perform. Designed to last.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4297680"/>
            <a:ext cx="8503920" cy="6401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43891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nexrena.com  ·  hello@nexrena.com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0" y="4389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C0F12"/>
          </a:solidFill>
          <a:ln w="12700">
            <a:solidFill>
              <a:srgbClr val="0C0F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Mid-size companies are caught between agencies that overcharge and freelancers that underdeliver.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3291840"/>
            <a:ext cx="457200" cy="3200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There's a better way.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0" y="457200"/>
            <a:ext cx="4663440" cy="123444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0" y="457200"/>
            <a:ext cx="54864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56692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46320" y="566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Too Expensive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9784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Large agencies charge enterprise prices for work that's templated and impersonal.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0" y="1920240"/>
            <a:ext cx="4663440" cy="123444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0" y="1920240"/>
            <a:ext cx="54864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02996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02996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Inconsistent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43400" y="24414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Freelancers deliver great work until they don't — no systems, no accountability.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0" y="3383280"/>
            <a:ext cx="4663440" cy="123444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3383280"/>
            <a:ext cx="54864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3493008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Strategy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43400" y="390448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Most vendors execute tasks. Almost none think about your business outcomes.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1E2530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WHO WE ARE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kind of</a:t>
            </a:r>
            <a:endParaRPr lang="en-US" sz="4400" dirty="0"/>
          </a:p>
          <a:p>
            <a:pPr indent="0" marL="0">
              <a:buNone/>
            </a:pPr>
            <a:r>
              <a:rPr lang="en-US" sz="44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agency.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Nexrena is a digital growth agency for mid-size companies. We combine high-performance web design, development, and SEO into a single, accountable partnership. No layers. No handoffs. Just results.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1920240" cy="12801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547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94360" y="40416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C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Core Services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&amp; SEO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51760" y="3429000"/>
            <a:ext cx="1920240" cy="12801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547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88920" y="40416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C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Transparent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8892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reporting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46320" y="3429000"/>
            <a:ext cx="1920240" cy="12801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354787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983480" y="40416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FCF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Point of Contact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4251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Direct access always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23317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D4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nexrena.com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D4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WHAT WE DO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services.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growth engine.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965960"/>
            <a:ext cx="3840480" cy="2651760"/>
          </a:xfrm>
          <a:prstGeom prst="rect">
            <a:avLst/>
          </a:prstGeom>
          <a:solidFill>
            <a:srgbClr val="0C0F12"/>
          </a:solidFill>
          <a:ln w="12700">
            <a:solidFill>
              <a:srgbClr val="0C0F1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384048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Design &amp;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website design &amp; builds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React, Next.js, WordPress, Webflow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5800" y="3584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(Shopify, WooCommerce)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3877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Landing pages &amp; campaign sites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4169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Speed, SEO &amp; conversion optimization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965960"/>
            <a:ext cx="3840480" cy="265176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65960"/>
            <a:ext cx="3840480" cy="45720"/>
          </a:xfrm>
          <a:prstGeom prst="rect">
            <a:avLst/>
          </a:prstGeom>
          <a:solidFill>
            <a:srgbClr val="9B7D4E"/>
          </a:solidFill>
          <a:ln w="12700">
            <a:solidFill>
              <a:srgbClr val="9B7D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1031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&amp; Digital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00600" y="29992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SEO audits &amp; implementation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32918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On-page &amp; content SEO strategy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35844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Local &amp; national SEO campaigns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3877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Ads (PPC) management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41696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analytics &amp; strategy reviews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CLIENTS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companies at the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stage.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4114800" cy="2880360"/>
          </a:xfrm>
          <a:prstGeom prst="rect">
            <a:avLst/>
          </a:prstGeom>
          <a:solidFill>
            <a:srgbClr val="0C0F12"/>
          </a:solidFill>
          <a:ln w="12700">
            <a:solidFill>
              <a:srgbClr val="0C0F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Ideal Client Profile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24871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50–500 employees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87121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Annual revenue $5M–$100M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325526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Has a marketing coordinator or team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6393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B2B or B2C established product/service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40233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✦  </a:t>
            </a:r>
            <a:pPr indent="0" marL="0">
              <a:buNone/>
            </a:pPr>
            <a:r>
              <a:rPr lang="en-US" sz="10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Wants outcomes, not just deliverables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Industries We Serve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2331720"/>
            <a:ext cx="178308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242316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Professional Services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2331720"/>
            <a:ext cx="1783080" cy="59436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22008" y="2423160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Healthcare &amp; Wellness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3081528"/>
            <a:ext cx="178308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1729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Manufacturing &amp; Industrial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3081528"/>
            <a:ext cx="1783080" cy="59436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22008" y="3172968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Real Estate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3831336"/>
            <a:ext cx="1783080" cy="594360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3922776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Technology &amp; SaaS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12280" y="3831336"/>
            <a:ext cx="1783080" cy="59436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3922776"/>
            <a:ext cx="15727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1A1E2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E-commerce &amp; Retail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PROCESS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work.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1920240" cy="31089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276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724912"/>
            <a:ext cx="320040" cy="27432"/>
          </a:xfrm>
          <a:prstGeom prst="rect">
            <a:avLst/>
          </a:prstGeom>
          <a:solidFill>
            <a:srgbClr val="9B7D4E"/>
          </a:solidFill>
          <a:ln w="12700">
            <a:solidFill>
              <a:srgbClr val="9B7D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620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Deep audit of your digital presence, competitors, and growth gaps.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304288" y="3017520"/>
            <a:ext cx="201168" cy="27432"/>
          </a:xfrm>
          <a:prstGeom prst="rect">
            <a:avLst/>
          </a:prstGeom>
          <a:solidFill>
            <a:srgbClr val="3D4A5C"/>
          </a:solidFill>
          <a:ln w="12700">
            <a:solidFill>
              <a:srgbClr val="3D4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508760"/>
            <a:ext cx="1920240" cy="31089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50876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6276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65176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Strategize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51760" y="2724912"/>
            <a:ext cx="320040" cy="27432"/>
          </a:xfrm>
          <a:prstGeom prst="rect">
            <a:avLst/>
          </a:prstGeom>
          <a:solidFill>
            <a:srgbClr val="9B7D4E"/>
          </a:solidFill>
          <a:ln w="12700">
            <a:solidFill>
              <a:srgbClr val="9B7D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8620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clear 90-day roadmap aligned to your business objectives.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53128" y="3017520"/>
            <a:ext cx="201168" cy="27432"/>
          </a:xfrm>
          <a:prstGeom prst="rect">
            <a:avLst/>
          </a:prstGeom>
          <a:solidFill>
            <a:srgbClr val="3D4A5C"/>
          </a:solidFill>
          <a:ln w="12700">
            <a:solidFill>
              <a:srgbClr val="3D4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508760"/>
            <a:ext cx="1920240" cy="31089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50876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6276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00600" y="2724912"/>
            <a:ext cx="320040" cy="27432"/>
          </a:xfrm>
          <a:prstGeom prst="rect">
            <a:avLst/>
          </a:prstGeom>
          <a:solidFill>
            <a:srgbClr val="9B7D4E"/>
          </a:solidFill>
          <a:ln w="12700">
            <a:solidFill>
              <a:srgbClr val="9B7D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8620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Precise execution — design, code, content, and SEO done right.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601968" y="3017520"/>
            <a:ext cx="201168" cy="27432"/>
          </a:xfrm>
          <a:prstGeom prst="rect">
            <a:avLst/>
          </a:prstGeom>
          <a:solidFill>
            <a:srgbClr val="3D4A5C"/>
          </a:solidFill>
          <a:ln w="12700">
            <a:solidFill>
              <a:srgbClr val="3D4A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2280" y="1508760"/>
            <a:ext cx="1920240" cy="31089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50876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6276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949440" y="2240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949440" y="2724912"/>
            <a:ext cx="320040" cy="27432"/>
          </a:xfrm>
          <a:prstGeom prst="rect">
            <a:avLst/>
          </a:prstGeom>
          <a:solidFill>
            <a:srgbClr val="9B7D4E"/>
          </a:solidFill>
          <a:ln w="12700">
            <a:solidFill>
              <a:srgbClr val="9B7D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862072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optimization, reporting, and strategic accountability.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D4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WHY NEXRENA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difference is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the details.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4114800" cy="1234440"/>
          </a:xfrm>
          <a:prstGeom prst="rect">
            <a:avLst/>
          </a:prstGeom>
          <a:solidFill>
            <a:srgbClr val="FDFCFA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74520"/>
            <a:ext cx="50292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39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Results-First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Every engagement starts with KPIs. We're accountable to numbers, not activity.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892040" y="1874520"/>
            <a:ext cx="4114800" cy="1234440"/>
          </a:xfrm>
          <a:prstGeom prst="rect">
            <a:avLst/>
          </a:prstGeom>
          <a:solidFill>
            <a:srgbClr val="FDFCFA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92040" y="1874520"/>
            <a:ext cx="50292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2039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Hidden Layers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work directly with the people doing the work. No account manager telephone game.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114800" cy="1234440"/>
          </a:xfrm>
          <a:prstGeom prst="rect">
            <a:avLst/>
          </a:prstGeom>
          <a:solidFill>
            <a:srgbClr val="FDFCFA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50292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Scale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Our systems, reporting, and processes are designed to grow with your company.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3291840"/>
            <a:ext cx="4114800" cy="1234440"/>
          </a:xfrm>
          <a:prstGeom prst="rect">
            <a:avLst/>
          </a:prstGeom>
          <a:solidFill>
            <a:srgbClr val="FDFCFA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3291840"/>
            <a:ext cx="50292" cy="123444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Vision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384048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think in quarters, not invoices. Our best clients stay for years, not months.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INVESTMENT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 pricing.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surprises.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1920240" cy="2926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82880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9385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 Website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24231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ONE-TIME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75488" y="26334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$5K–$12K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75488" y="3081528"/>
            <a:ext cx="1700784" cy="27432"/>
          </a:xfrm>
          <a:prstGeom prst="rect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172968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5–10 pages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345643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Custom design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739896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CMS setup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402336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Mobile-ready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430682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SEO foundation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14600" y="1828800"/>
            <a:ext cx="1920240" cy="2926080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82880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4328" y="19385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Website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24328" y="24231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ONE-TIME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624328" y="26334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$12K–$30K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2624328" y="3081528"/>
            <a:ext cx="1700784" cy="27432"/>
          </a:xfrm>
          <a:prstGeom prst="rect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24328" y="3172968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15–30 pages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624328" y="345643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branding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24328" y="3739896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Integrations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24328" y="402336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Performance tuned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24328" y="430682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Analytics setup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1828800"/>
            <a:ext cx="1920240" cy="2926080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82880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19385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Retainer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73168" y="24231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3168" y="26334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B7D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$1.5K–$5K/mo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773168" y="3081528"/>
            <a:ext cx="1700784" cy="27432"/>
          </a:xfrm>
          <a:prstGeom prst="rect">
            <a:avLst/>
          </a:prstGeom>
          <a:solidFill>
            <a:srgbClr val="D4DCE6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72968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Technical audit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3168" y="345643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On-page SEO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73168" y="3739896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 building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773168" y="402336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 report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773168" y="430682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call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12280" y="1828800"/>
            <a:ext cx="1920240" cy="2926080"/>
          </a:xfrm>
          <a:prstGeom prst="rect">
            <a:avLst/>
          </a:prstGeom>
          <a:solidFill>
            <a:srgbClr val="0C0F12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1828800"/>
            <a:ext cx="1920240" cy="50292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1938528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Retainer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22008" y="2423160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3D4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MONTHLY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922008" y="26334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$4K–$10K/mo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6922008" y="3081528"/>
            <a:ext cx="1700784" cy="27432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3172968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Web + SEO + Ads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922008" y="3456432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Full management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22008" y="3739896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Strategy sessions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922008" y="4023360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Looker dashboard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22008" y="4306824"/>
            <a:ext cx="1719072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 </a:t>
            </a:r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Priority support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RESULTS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clients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achieve.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1874520"/>
            <a:ext cx="2560320" cy="164592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6596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3x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Average organic traffic growth in 6 months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0" y="1874520"/>
            <a:ext cx="2560320" cy="164592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96596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Google Lighthouse scores on all delivered sites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874520"/>
            <a:ext cx="2560320" cy="164592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965960"/>
            <a:ext cx="22860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263640" y="27432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 retention rate year-over-year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321040" cy="1051560"/>
          </a:xfrm>
          <a:prstGeom prst="rect">
            <a:avLst/>
          </a:prstGeom>
          <a:solidFill>
            <a:srgbClr val="1E2530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50292" cy="105156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67328"/>
            <a:ext cx="6858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"[Client testimonial — paste a real quote here from a satisfied client. Keep it outcome-focused: what changed, what grew, what improved.]"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3434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[Client Name], [Title] — [Company]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D4A5C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9B7D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NEXT STEPS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grow?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321040" cy="713232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Discovery Call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96596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30-minute conversation to understand your goals and current digital setup.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404872"/>
            <a:ext cx="8321040" cy="713232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24963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7063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We review your website and SEO and deliver a 5-point opportunity brief — no obligation.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209544"/>
            <a:ext cx="8321040" cy="713232"/>
          </a:xfrm>
          <a:prstGeom prst="rect">
            <a:avLst/>
          </a:prstGeom>
          <a:solidFill>
            <a:srgbClr val="F5F0E8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3009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3300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Proposal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57530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tailored scope, timeline, and investment built around your specific objectives.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014216"/>
            <a:ext cx="8321040" cy="713232"/>
          </a:xfrm>
          <a:prstGeom prst="rect">
            <a:avLst/>
          </a:prstGeom>
          <a:solidFill>
            <a:srgbClr val="EDF0F4"/>
          </a:solidFill>
          <a:ln w="12700">
            <a:solidFill>
              <a:srgbClr val="D4DC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4105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E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Kick-off &amp; Build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37997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Once aligned, we start within 48 hours of signed agreement and deposit.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47548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9B7D4E">
              <a:alpha val="7000"/>
            </a:srgbClr>
          </a:solidFill>
          <a:ln w="12700">
            <a:solidFill>
              <a:srgbClr val="9B7D4E">
                <a:alpha val="7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</a:t>
            </a:r>
            <a:pPr indent="0" marL="0">
              <a:buNone/>
            </a:pPr>
            <a:r>
              <a:rPr lang="en-US" sz="8000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22860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F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perform. Designed to last.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926080" cy="6401"/>
          </a:xfrm>
          <a:prstGeom prst="rect">
            <a:avLst/>
          </a:prstGeom>
          <a:solidFill>
            <a:srgbClr val="2C3444"/>
          </a:solidFill>
          <a:ln w="12700">
            <a:solidFill>
              <a:srgbClr val="2C3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hello@nexrena.com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nexrena.com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A9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Let's build something that lasts.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Nexrena — Agency Capabilities</dc:title>
  <dc:subject>PptxGenJS Presentation</dc:subject>
  <dc:creator>Nexrena</dc:creator>
  <cp:lastModifiedBy>Nexrena</cp:lastModifiedBy>
  <cp:revision>1</cp:revision>
  <dcterms:created xsi:type="dcterms:W3CDTF">2026-03-08T23:12:39Z</dcterms:created>
  <dcterms:modified xsi:type="dcterms:W3CDTF">2026-03-08T23:12:39Z</dcterms:modified>
</cp:coreProperties>
</file>